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1699875" cy="2700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90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2485" y="441930"/>
            <a:ext cx="8774906" cy="940118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2485" y="1418303"/>
            <a:ext cx="8774906" cy="651956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924E-ACE4-4A87-9A77-AF2BBE84148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79FC-5095-4CAC-B75D-FB252D124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24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924E-ACE4-4A87-9A77-AF2BBE84148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79FC-5095-4CAC-B75D-FB252D124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477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273" y="673210"/>
            <a:ext cx="10091142" cy="1123265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8273" y="1807101"/>
            <a:ext cx="10091142" cy="590699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924E-ACE4-4A87-9A77-AF2BBE84148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79FC-5095-4CAC-B75D-FB252D124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01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4366" y="718840"/>
            <a:ext cx="4972447" cy="171334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23062" y="718840"/>
            <a:ext cx="4972447" cy="171334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924E-ACE4-4A87-9A77-AF2BBE84148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79FC-5095-4CAC-B75D-FB252D124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17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890" y="143768"/>
            <a:ext cx="10091142" cy="52194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5891" y="661958"/>
            <a:ext cx="4949595" cy="324415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5891" y="986373"/>
            <a:ext cx="4949595" cy="14508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3062" y="661958"/>
            <a:ext cx="4973971" cy="324415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3062" y="986373"/>
            <a:ext cx="4973971" cy="14508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924E-ACE4-4A87-9A77-AF2BBE84148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79FC-5095-4CAC-B75D-FB252D124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67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924E-ACE4-4A87-9A77-AF2BBE84148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79FC-5095-4CAC-B75D-FB252D124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364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924E-ACE4-4A87-9A77-AF2BBE84148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79FC-5095-4CAC-B75D-FB252D124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812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891" y="180022"/>
            <a:ext cx="3773514" cy="630079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3971" y="388799"/>
            <a:ext cx="5923062" cy="1918990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5891" y="810101"/>
            <a:ext cx="3773514" cy="1500813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924E-ACE4-4A87-9A77-AF2BBE84148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79FC-5095-4CAC-B75D-FB252D124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476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891" y="180022"/>
            <a:ext cx="3773514" cy="630079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3971" y="388799"/>
            <a:ext cx="5923062" cy="1918990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5891" y="810101"/>
            <a:ext cx="3773514" cy="1500813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924E-ACE4-4A87-9A77-AF2BBE84148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79FC-5095-4CAC-B75D-FB252D124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783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924E-ACE4-4A87-9A77-AF2BBE84148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79FC-5095-4CAC-B75D-FB252D124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80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72723" y="143768"/>
            <a:ext cx="2522786" cy="22884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367" y="143768"/>
            <a:ext cx="7422108" cy="22884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924E-ACE4-4A87-9A77-AF2BBE84148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79FC-5095-4CAC-B75D-FB252D124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191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4367" y="143768"/>
            <a:ext cx="10091142" cy="521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367" y="718840"/>
            <a:ext cx="10091142" cy="1713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366" y="2502813"/>
            <a:ext cx="2632472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2924E-ACE4-4A87-9A77-AF2BBE84148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75584" y="2502813"/>
            <a:ext cx="3948708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3037" y="2502813"/>
            <a:ext cx="2632472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F79FC-5095-4CAC-B75D-FB252D1245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40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1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1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1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7227181E-52D9-FB66-E52E-A17E3FCF290C}"/>
              </a:ext>
            </a:extLst>
          </p:cNvPr>
          <p:cNvGrpSpPr/>
          <p:nvPr/>
        </p:nvGrpSpPr>
        <p:grpSpPr>
          <a:xfrm>
            <a:off x="47262" y="58917"/>
            <a:ext cx="11605350" cy="2582505"/>
            <a:chOff x="111200" y="876708"/>
            <a:chExt cx="11605351" cy="258250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0B00F317-C5C3-2387-054C-457F8A513175}"/>
                </a:ext>
              </a:extLst>
            </p:cNvPr>
            <p:cNvSpPr/>
            <p:nvPr/>
          </p:nvSpPr>
          <p:spPr>
            <a:xfrm>
              <a:off x="2831656" y="1793151"/>
              <a:ext cx="1980000" cy="720000"/>
            </a:xfrm>
            <a:prstGeom prst="roundRect">
              <a:avLst>
                <a:gd name="adj" fmla="val 1912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1">
                  <a:solidFill>
                    <a:schemeClr val="tx1"/>
                  </a:solidFill>
                  <a:latin typeface="SF Pro Semibold" pitchFamily="2" charset="0"/>
                  <a:cs typeface="SF Pro Semibold" pitchFamily="2" charset="0"/>
                </a:rPr>
                <a:t>Efficient LVLM</a:t>
              </a:r>
              <a:endParaRPr lang="ko-KR" altLang="en-US" sz="2001">
                <a:solidFill>
                  <a:schemeClr val="tx1"/>
                </a:solidFill>
                <a:latin typeface="SF Pro Semibold" pitchFamily="2" charset="0"/>
                <a:cs typeface="SF Pro Semibold" pitchFamily="2" charset="0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B73B144-7800-02AE-C3A1-ADAB5A178179}"/>
                </a:ext>
              </a:extLst>
            </p:cNvPr>
            <p:cNvGrpSpPr/>
            <p:nvPr/>
          </p:nvGrpSpPr>
          <p:grpSpPr>
            <a:xfrm>
              <a:off x="4947207" y="1763069"/>
              <a:ext cx="6122601" cy="780293"/>
              <a:chOff x="6059570" y="1742009"/>
              <a:chExt cx="6122601" cy="780293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FE4A7295-0A10-C373-8675-E53808796BD1}"/>
                  </a:ext>
                </a:extLst>
              </p:cNvPr>
              <p:cNvGrpSpPr/>
              <p:nvPr/>
            </p:nvGrpSpPr>
            <p:grpSpPr>
              <a:xfrm>
                <a:off x="6059570" y="1742009"/>
                <a:ext cx="5628877" cy="400237"/>
                <a:chOff x="6059570" y="1742009"/>
                <a:chExt cx="5628877" cy="400237"/>
              </a:xfrm>
            </p:grpSpPr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EEB5975F-2EF7-474D-E24B-D846C74984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059570" y="1762064"/>
                  <a:ext cx="360000" cy="360000"/>
                </a:xfrm>
                <a:prstGeom prst="rect">
                  <a:avLst/>
                </a:prstGeom>
              </p:spPr>
            </p:pic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10157E5-B66F-7C53-B9A6-CD039B5BDFCD}"/>
                    </a:ext>
                  </a:extLst>
                </p:cNvPr>
                <p:cNvSpPr txBox="1"/>
                <p:nvPr/>
              </p:nvSpPr>
              <p:spPr>
                <a:xfrm>
                  <a:off x="6390201" y="1742009"/>
                  <a:ext cx="5298246" cy="4002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2001">
                      <a:latin typeface="SF Pro Regular" pitchFamily="2" charset="0"/>
                      <a:ea typeface="SF Pro Regular" pitchFamily="2" charset="0"/>
                      <a:cs typeface="SF Pro Regular" pitchFamily="2" charset="0"/>
                    </a:rPr>
                    <a:t>Efficient Pixel Grounding with SotA Performance</a:t>
                  </a:r>
                  <a:endParaRPr lang="ko-KR" altLang="en-US" sz="2001">
                    <a:latin typeface="SF Pro Regular" pitchFamily="2" charset="0"/>
                    <a:cs typeface="SF Pro Regular" pitchFamily="2" charset="0"/>
                  </a:endParaRPr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4FEB234C-F22A-8B9D-3534-2DB53E3B8391}"/>
                  </a:ext>
                </a:extLst>
              </p:cNvPr>
              <p:cNvGrpSpPr/>
              <p:nvPr/>
            </p:nvGrpSpPr>
            <p:grpSpPr>
              <a:xfrm>
                <a:off x="6059570" y="2122064"/>
                <a:ext cx="6122601" cy="400238"/>
                <a:chOff x="6059570" y="2122064"/>
                <a:chExt cx="6122601" cy="400238"/>
              </a:xfrm>
            </p:grpSpPr>
            <p:pic>
              <p:nvPicPr>
                <p:cNvPr id="2" name="그림 1">
                  <a:extLst>
                    <a:ext uri="{FF2B5EF4-FFF2-40B4-BE49-F238E27FC236}">
                      <a16:creationId xmlns:a16="http://schemas.microsoft.com/office/drawing/2014/main" id="{CC696FDA-3FFC-F5ED-A854-1FDC531FBA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059570" y="2142119"/>
                  <a:ext cx="360000" cy="360000"/>
                </a:xfrm>
                <a:prstGeom prst="rect">
                  <a:avLst/>
                </a:prstGeom>
              </p:spPr>
            </p:pic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97CA331-28DD-BE79-D903-DFB737F07BAB}"/>
                    </a:ext>
                  </a:extLst>
                </p:cNvPr>
                <p:cNvSpPr txBox="1"/>
                <p:nvPr/>
              </p:nvSpPr>
              <p:spPr>
                <a:xfrm>
                  <a:off x="6390201" y="2122064"/>
                  <a:ext cx="5791970" cy="4002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2001">
                      <a:latin typeface="SF Pro Regular" pitchFamily="2" charset="0"/>
                      <a:ea typeface="SF Pro Regular" pitchFamily="2" charset="0"/>
                      <a:cs typeface="SF Pro Regular" pitchFamily="2" charset="0"/>
                    </a:rPr>
                    <a:t>Applicable to Training-free Inference and Fine-tuning</a:t>
                  </a:r>
                  <a:endParaRPr lang="ko-KR" altLang="en-US" sz="2001">
                    <a:latin typeface="SF Pro Regular" pitchFamily="2" charset="0"/>
                    <a:cs typeface="SF Pro Regular" pitchFamily="2" charset="0"/>
                  </a:endParaRPr>
                </a:p>
              </p:txBody>
            </p:sp>
          </p:grpSp>
        </p:grp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0F397AC-EE70-C0F3-A372-566B85FA9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200" y="876708"/>
              <a:ext cx="2554664" cy="2554664"/>
            </a:xfrm>
            <a:prstGeom prst="rect">
              <a:avLst/>
            </a:prstGeom>
          </p:spPr>
        </p:pic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BAFEFA81-ED32-3BF8-9149-B711AC9909E0}"/>
                </a:ext>
              </a:extLst>
            </p:cNvPr>
            <p:cNvSpPr/>
            <p:nvPr/>
          </p:nvSpPr>
          <p:spPr>
            <a:xfrm>
              <a:off x="2831656" y="882119"/>
              <a:ext cx="1980000" cy="720000"/>
            </a:xfrm>
            <a:prstGeom prst="roundRect">
              <a:avLst>
                <a:gd name="adj" fmla="val 1912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1">
                  <a:solidFill>
                    <a:schemeClr val="tx1"/>
                  </a:solidFill>
                  <a:latin typeface="SF Pro Semibold" pitchFamily="2" charset="0"/>
                  <a:cs typeface="SF Pro Semibold" pitchFamily="2" charset="0"/>
                </a:rPr>
                <a:t>Analysis</a:t>
              </a:r>
              <a:endParaRPr lang="ko-KR" altLang="en-US" sz="2001">
                <a:solidFill>
                  <a:schemeClr val="tx1"/>
                </a:solidFill>
                <a:latin typeface="SF Pro Semibold" pitchFamily="2" charset="0"/>
                <a:cs typeface="SF Pro Semibold" pitchFamily="2" charset="0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EBCE033-BE35-B93E-0263-5215E8954967}"/>
                </a:ext>
              </a:extLst>
            </p:cNvPr>
            <p:cNvGrpSpPr/>
            <p:nvPr/>
          </p:nvGrpSpPr>
          <p:grpSpPr>
            <a:xfrm>
              <a:off x="4947207" y="1042064"/>
              <a:ext cx="2225702" cy="400238"/>
              <a:chOff x="6059570" y="422257"/>
              <a:chExt cx="2225702" cy="400238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02EA6501-ACA1-CBDE-16CE-E2EF84B74F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6059570" y="442312"/>
                <a:ext cx="360000" cy="360000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BA3A08-5CE2-C0C4-BB6B-786C588040C0}"/>
                  </a:ext>
                </a:extLst>
              </p:cNvPr>
              <p:cNvSpPr txBox="1"/>
              <p:nvPr/>
            </p:nvSpPr>
            <p:spPr>
              <a:xfrm>
                <a:off x="6390201" y="422257"/>
                <a:ext cx="1895071" cy="400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1">
                    <a:latin typeface="SF Pro Regular" pitchFamily="2" charset="0"/>
                    <a:ea typeface="SF Pro Regular" pitchFamily="2" charset="0"/>
                    <a:cs typeface="SF Pro Regular" pitchFamily="2" charset="0"/>
                  </a:rPr>
                  <a:t>Rethinking CLIP</a:t>
                </a:r>
                <a:endParaRPr lang="ko-KR" altLang="en-US" sz="2001">
                  <a:latin typeface="SF Pro Regular" pitchFamily="2" charset="0"/>
                  <a:cs typeface="SF Pro Regular" pitchFamily="2" charset="0"/>
                </a:endParaRPr>
              </a:p>
            </p:txBody>
          </p:sp>
        </p:grp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7270310E-3D6C-40B4-7087-E9428F50EDDE}"/>
                </a:ext>
              </a:extLst>
            </p:cNvPr>
            <p:cNvSpPr/>
            <p:nvPr/>
          </p:nvSpPr>
          <p:spPr>
            <a:xfrm>
              <a:off x="2831656" y="2709000"/>
              <a:ext cx="1980000" cy="720000"/>
            </a:xfrm>
            <a:prstGeom prst="roundRect">
              <a:avLst>
                <a:gd name="adj" fmla="val 1912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1">
                  <a:solidFill>
                    <a:schemeClr val="tx1"/>
                  </a:solidFill>
                  <a:latin typeface="SF Pro Semibold" pitchFamily="2" charset="0"/>
                  <a:cs typeface="SF Pro Semibold" pitchFamily="2" charset="0"/>
                </a:rPr>
                <a:t>Usability</a:t>
              </a:r>
              <a:endParaRPr lang="ko-KR" altLang="en-US" sz="2001">
                <a:solidFill>
                  <a:schemeClr val="tx1"/>
                </a:solidFill>
                <a:latin typeface="SF Pro Semibold" pitchFamily="2" charset="0"/>
                <a:cs typeface="SF Pro Semibold" pitchFamily="2" charset="0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67C6D7A2-028F-8FF3-774C-8563D1731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947207" y="2698973"/>
              <a:ext cx="360000" cy="3600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D99AEE4-3A7C-74A2-CC15-BCEB0E3A5AF0}"/>
                </a:ext>
              </a:extLst>
            </p:cNvPr>
            <p:cNvSpPr txBox="1"/>
            <p:nvPr/>
          </p:nvSpPr>
          <p:spPr>
            <a:xfrm>
              <a:off x="5277839" y="2678917"/>
              <a:ext cx="2795958" cy="4002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1">
                  <a:latin typeface="SF Pro Regular" pitchFamily="2" charset="0"/>
                  <a:ea typeface="SF Pro Regular" pitchFamily="2" charset="0"/>
                  <a:cs typeface="SF Pro Regular" pitchFamily="2" charset="0"/>
                </a:rPr>
                <a:t>Fast &amp; Memory-Efficient</a:t>
              </a:r>
              <a:endParaRPr lang="ko-KR" altLang="en-US" sz="2001">
                <a:latin typeface="SF Pro Regular" pitchFamily="2" charset="0"/>
                <a:cs typeface="SF Pro Regular" pitchFamily="2" charset="0"/>
              </a:endParaRPr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D1C6FC88-BB08-1EC7-93B2-EED1CB54F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947207" y="3079028"/>
              <a:ext cx="360000" cy="3600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E79332-E00A-FA99-1FF9-AD4E058493F0}"/>
                </a:ext>
              </a:extLst>
            </p:cNvPr>
            <p:cNvSpPr txBox="1"/>
            <p:nvPr/>
          </p:nvSpPr>
          <p:spPr>
            <a:xfrm>
              <a:off x="5277839" y="3058973"/>
              <a:ext cx="3653564" cy="4002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1">
                  <a:latin typeface="SF Pro Regular" pitchFamily="2" charset="0"/>
                  <a:ea typeface="SF Pro Regular" pitchFamily="2" charset="0"/>
                  <a:cs typeface="SF Pro Regular" pitchFamily="2" charset="0"/>
                </a:rPr>
                <a:t>Pixel</a:t>
              </a:r>
              <a:r>
                <a:rPr lang="ko-KR" altLang="en-US" sz="2001">
                  <a:latin typeface="SF Pro Regular" pitchFamily="2" charset="0"/>
                  <a:ea typeface="SF Pro Regular" pitchFamily="2" charset="0"/>
                  <a:cs typeface="SF Pro Regular" pitchFamily="2" charset="0"/>
                </a:rPr>
                <a:t> </a:t>
              </a:r>
              <a:r>
                <a:rPr lang="en-US" altLang="ko-KR" sz="2001">
                  <a:latin typeface="SF Pro Regular" pitchFamily="2" charset="0"/>
                  <a:ea typeface="SF Pro Regular" pitchFamily="2" charset="0"/>
                  <a:cs typeface="SF Pro Regular" pitchFamily="2" charset="0"/>
                </a:rPr>
                <a:t>Grounding (Image &amp; Video)</a:t>
              </a:r>
              <a:endParaRPr lang="ko-KR" altLang="en-US" sz="2001">
                <a:latin typeface="SF Pro Regular" pitchFamily="2" charset="0"/>
                <a:cs typeface="SF Pro Regular" pitchFamily="2" charset="0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E173F17F-B881-11BF-AE99-333A70423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889724" y="2698973"/>
              <a:ext cx="360000" cy="3600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120B3C0-FE13-B86B-353E-0C3B80EE2F63}"/>
                </a:ext>
              </a:extLst>
            </p:cNvPr>
            <p:cNvSpPr txBox="1"/>
            <p:nvPr/>
          </p:nvSpPr>
          <p:spPr>
            <a:xfrm>
              <a:off x="9220355" y="2678917"/>
              <a:ext cx="1741182" cy="4002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1">
                  <a:latin typeface="SF Pro Regular" pitchFamily="2" charset="0"/>
                  <a:ea typeface="SF Pro Regular" pitchFamily="2" charset="0"/>
                  <a:cs typeface="SF Pro Regular" pitchFamily="2" charset="0"/>
                </a:rPr>
                <a:t>Plug-and-Play</a:t>
              </a:r>
              <a:endParaRPr lang="ko-KR" altLang="en-US" sz="2001">
                <a:latin typeface="SF Pro Regular" pitchFamily="2" charset="0"/>
                <a:cs typeface="SF Pro Regular" pitchFamily="2" charset="0"/>
              </a:endParaRP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4B200CD3-788B-FE52-51AE-EECAA4D92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889724" y="3079028"/>
              <a:ext cx="360000" cy="3600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AFA1A25-364E-24B4-43EC-3B2C9A43525D}"/>
                </a:ext>
              </a:extLst>
            </p:cNvPr>
            <p:cNvSpPr txBox="1"/>
            <p:nvPr/>
          </p:nvSpPr>
          <p:spPr>
            <a:xfrm>
              <a:off x="9220355" y="3058973"/>
              <a:ext cx="2496196" cy="4002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1">
                  <a:latin typeface="SF Pro Regular" pitchFamily="2" charset="0"/>
                  <a:ea typeface="SF Pro Regular" pitchFamily="2" charset="0"/>
                  <a:cs typeface="SF Pro Regular" pitchFamily="2" charset="0"/>
                </a:rPr>
                <a:t>Image Understanding</a:t>
              </a:r>
              <a:endParaRPr lang="ko-KR" altLang="en-US" sz="2001">
                <a:latin typeface="SF Pro Regular" pitchFamily="2" charset="0"/>
                <a:cs typeface="SF Pro Regular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8932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31</Words>
  <Application>Microsoft Office PowerPoint</Application>
  <PresentationFormat>사용자 지정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SF Pro Regular</vt:lpstr>
      <vt:lpstr>SF Pro Semibold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이상인</dc:creator>
  <cp:lastModifiedBy>이상인</cp:lastModifiedBy>
  <cp:revision>24</cp:revision>
  <dcterms:created xsi:type="dcterms:W3CDTF">2026-05-06T11:03:05Z</dcterms:created>
  <dcterms:modified xsi:type="dcterms:W3CDTF">2026-05-19T05:33:08Z</dcterms:modified>
</cp:coreProperties>
</file>